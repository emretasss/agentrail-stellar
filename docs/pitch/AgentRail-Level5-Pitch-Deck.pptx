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2893ea2ad14335" /><Relationship Type="http://schemas.openxmlformats.org/officeDocument/2006/relationships/extended-properties" Target="/docProps/app.xml" Id="Red3a9eab204e4cdb" /><Relationship Type="http://schemas.openxmlformats.org/officeDocument/2006/relationships/officeDocument" Target="/ppt/presentation.xml" Id="Rb236dfbafc6c4a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c4aee4e8174dbb"/>
  </p:sldMasterIdLst>
  <p:notesMasterIdLst>
    <p:notesMasterId xmlns:r="http://schemas.openxmlformats.org/officeDocument/2006/relationships" r:id="R2185ec0f9c66481a"/>
  </p:notesMasterIdLst>
  <p:sldIdLst>
    <p:sldId xmlns:r="http://schemas.openxmlformats.org/officeDocument/2006/relationships" id="256" r:id="Rc6bf90bc5cb44d3d"/>
    <p:sldId xmlns:r="http://schemas.openxmlformats.org/officeDocument/2006/relationships" id="257" r:id="R3108d22b4a184135"/>
    <p:sldId xmlns:r="http://schemas.openxmlformats.org/officeDocument/2006/relationships" id="258" r:id="R92a6174ad330456e"/>
    <p:sldId xmlns:r="http://schemas.openxmlformats.org/officeDocument/2006/relationships" id="259" r:id="Rd785321630524984"/>
    <p:sldId xmlns:r="http://schemas.openxmlformats.org/officeDocument/2006/relationships" id="260" r:id="R70dfcbece0804537"/>
    <p:sldId xmlns:r="http://schemas.openxmlformats.org/officeDocument/2006/relationships" id="261" r:id="R4963d8c4050c4924"/>
    <p:sldId xmlns:r="http://schemas.openxmlformats.org/officeDocument/2006/relationships" id="262" r:id="Rcb98d77b9db34a7f"/>
    <p:sldId xmlns:r="http://schemas.openxmlformats.org/officeDocument/2006/relationships" id="263" r:id="R1eec30527fb64633"/>
    <p:sldId xmlns:r="http://schemas.openxmlformats.org/officeDocument/2006/relationships" id="264" r:id="Rff8d07a264cf4c4e"/>
    <p:sldId xmlns:r="http://schemas.openxmlformats.org/officeDocument/2006/relationships" id="265" r:id="R0c3fe928c3b940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354b6a635f4410" /><Relationship Type="http://schemas.openxmlformats.org/officeDocument/2006/relationships/slideMaster" Target="/ppt/slideMasters/slideMaster1.xml" Id="R93c4aee4e8174dbb" /><Relationship Type="http://schemas.openxmlformats.org/officeDocument/2006/relationships/notesMaster" Target="/ppt/notesMasters/notesMaster1.xml" Id="R2185ec0f9c66481a" /><Relationship Type="http://schemas.openxmlformats.org/officeDocument/2006/relationships/presProps" Target="/ppt/presProps.xml" Id="R2ed34be7b5264f3d" /><Relationship Type="http://schemas.openxmlformats.org/officeDocument/2006/relationships/tableStyles" Target="/ppt/tableStyles.xml" Id="R9a2657e53f0d42e4" /><Relationship Type="http://schemas.openxmlformats.org/officeDocument/2006/relationships/slide" Target="/ppt/slides/slide1.xml" Id="Rc6bf90bc5cb44d3d" /><Relationship Type="http://schemas.openxmlformats.org/officeDocument/2006/relationships/slide" Target="/ppt/slides/slide2.xml" Id="R3108d22b4a184135" /><Relationship Type="http://schemas.openxmlformats.org/officeDocument/2006/relationships/slide" Target="/ppt/slides/slide3.xml" Id="R92a6174ad330456e" /><Relationship Type="http://schemas.openxmlformats.org/officeDocument/2006/relationships/slide" Target="/ppt/slides/slide4.xml" Id="Rd785321630524984" /><Relationship Type="http://schemas.openxmlformats.org/officeDocument/2006/relationships/slide" Target="/ppt/slides/slide5.xml" Id="R70dfcbece0804537" /><Relationship Type="http://schemas.openxmlformats.org/officeDocument/2006/relationships/slide" Target="/ppt/slides/slide6.xml" Id="R4963d8c4050c4924" /><Relationship Type="http://schemas.openxmlformats.org/officeDocument/2006/relationships/slide" Target="/ppt/slides/slide7.xml" Id="Rcb98d77b9db34a7f" /><Relationship Type="http://schemas.openxmlformats.org/officeDocument/2006/relationships/slide" Target="/ppt/slides/slide8.xml" Id="R1eec30527fb64633" /><Relationship Type="http://schemas.openxmlformats.org/officeDocument/2006/relationships/slide" Target="/ppt/slides/slide9.xml" Id="Rff8d07a264cf4c4e" /><Relationship Type="http://schemas.openxmlformats.org/officeDocument/2006/relationships/slide" Target="/ppt/slides/slide10.xml" Id="R0c3fe928c3b940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622468c0347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c6f72f068043d1" /><Relationship Type="http://schemas.openxmlformats.org/officeDocument/2006/relationships/notesMaster" Target="/ppt/notesMasters/notesMaster1.xml" Id="R38a28ea797f84b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b6339415c43c2" /><Relationship Type="http://schemas.openxmlformats.org/officeDocument/2006/relationships/notesMaster" Target="/ppt/notesMasters/notesMaster1.xml" Id="Rd966c7c7b3a748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ce4d9e6f4641d3" /><Relationship Type="http://schemas.openxmlformats.org/officeDocument/2006/relationships/notesMaster" Target="/ppt/notesMasters/notesMaster1.xml" Id="Ra0dcc470ed3342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5b479ce99f43d9" /><Relationship Type="http://schemas.openxmlformats.org/officeDocument/2006/relationships/notesMaster" Target="/ppt/notesMasters/notesMaster1.xml" Id="R9db7d481a031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0b6496d19143c8" /><Relationship Type="http://schemas.openxmlformats.org/officeDocument/2006/relationships/notesMaster" Target="/ppt/notesMasters/notesMaster1.xml" Id="R4fc0db05fce64d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f53c62f1f543d0" /><Relationship Type="http://schemas.openxmlformats.org/officeDocument/2006/relationships/notesMaster" Target="/ppt/notesMasters/notesMaster1.xml" Id="R644df501110c40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b8643d8a494fae" /><Relationship Type="http://schemas.openxmlformats.org/officeDocument/2006/relationships/notesMaster" Target="/ppt/notesMasters/notesMaster1.xml" Id="R37e46953a65f43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7ee24bbfda45af" /><Relationship Type="http://schemas.openxmlformats.org/officeDocument/2006/relationships/notesMaster" Target="/ppt/notesMasters/notesMaster1.xml" Id="R50293881e48d4f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536957c70e4e9a" /><Relationship Type="http://schemas.openxmlformats.org/officeDocument/2006/relationships/notesMaster" Target="/ppt/notesMasters/notesMaster1.xml" Id="R205e558b526b42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bca05299eb4373" /><Relationship Type="http://schemas.openxmlformats.org/officeDocument/2006/relationships/notesMaster" Target="/ppt/notesMasters/notesMaster1.xml" Id="Rabe61a048aac48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trust gap: capable agents still need a credible commercial workflow.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https://agentrail-stellar.vercel.app</a:t>
            </a:r>
          </a:p>
          <a:p xmlns:a="http://schemas.openxmlformats.org/drawingml/2006/main">
            <a:r>
              <a:t>- Local asset: docs/screenshots/agentrail-mobile-command-center.jpg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a workflow gap rather than a lack of agent capability.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README.md, section ‘Why AgentRail exists’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left-to-right through the complete buyer lifecycle.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README.md, sections ‘Why AgentRail exists’ and ‘End-to-end user flow’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market qualitatively; do not invent TAM or revenue figures before sourced research exists.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 and docs/HACKATHON_BRIEF.md</a:t>
            </a:r>
          </a:p>
          <a:p xmlns:a="http://schemas.openxmlformats.org/drawingml/2006/main">
            <a:r>
              <a:t>- Local asset: docs/screenshots/agentrail-agent-network.jpg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bridge into the live demo.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https://agentrail-stellar.vercel.app</a:t>
            </a:r>
          </a:p>
          <a:p xmlns:a="http://schemas.openxmlformats.org/drawingml/2006/main">
            <a:r>
              <a:t>- Local asset: docs/screenshots/agentrail-command-center.jpg</a:t>
            </a:r>
          </a:p>
          <a:p xmlns:a="http://schemas.openxmlformats.org/drawingml/2006/main">
            <a:r>
              <a:t>v0.4 demo: role → mission → Horizon proof → feedback → referral.</a:t>
            </a:r>
          </a:p>
          <a:p xmlns:a="http://schemas.openxmlformats.org/drawingml/2006/main">
            <a:r>
              <a:t>- Local asset: docs/screenshots/agentrail-growth-lab.png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trust boundaries: user signing, server secrets, RPC confirmation, and on-chain authority.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docs/ARCHITECTURE.md</a:t>
            </a:r>
          </a:p>
          <a:p xmlns:a="http://schemas.openxmlformats.org/drawingml/2006/main">
            <a:r>
              <a:t>- https://developers.stellar.org/</a:t>
            </a:r>
          </a:p>
          <a:p xmlns:a="http://schemas.openxmlformats.org/drawingml/2006/main">
            <a:r>
              <a:t>Growth Lab queries Horizon Testnet transaction and operation endpoints, then matches success, source wallet, and deployed contract invocation.</a:t>
            </a:r>
          </a:p>
          <a:p xmlns:a="http://schemas.openxmlformats.org/drawingml/2006/main">
            <a:r>
              <a:t>- https://developers.stellar.org/docs/data/apis/horizon/api-reference/resources/retrieve-a-transaction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the 50-user target as achieved. The evidence workbook starts at zero verified users.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https://github.com/emretasss/agentrail-stellar</a:t>
            </a:r>
          </a:p>
          <a:p xmlns:a="http://schemas.openxmlformats.org/drawingml/2006/main">
            <a:r>
              <a:t>- Local repository: README.md, ‘Verified transaction evidence’</a:t>
            </a:r>
          </a:p>
          <a:p xmlns:a="http://schemas.openxmlformats.org/drawingml/2006/main">
            <a:r>
              <a:t>- Local repository: contracts/agent-pay/src/test.rs</a:t>
            </a:r>
          </a:p>
          <a:p xmlns:a="http://schemas.openxmlformats.org/drawingml/2006/main">
            <a:r>
              <a:t>Reviewer response: this release adds a new user-facing activation and transaction-verification system, not a CI/CD-only update.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growth to an observable funnel: form response → wallet → transaction → feedback → iteration.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AgentRail Level 5 validation strategy developed from the submission requirements</a:t>
            </a:r>
          </a:p>
          <a:p xmlns:a="http://schemas.openxmlformats.org/drawingml/2006/main">
            <a:r>
              <a:t>The implemented funnel is observable without sending public wallet addresses to product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roadmap by linking every phase to the trust and settlement thesis.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README.md, ‘Roadmap’</a:t>
            </a:r>
          </a:p>
          <a:p xmlns:a="http://schemas.openxmlformats.org/drawingml/2006/main">
            <a:r>
              <a:t>- Local repository: docs/ARCHITECTURE.md, ‘Scale path’</a:t>
            </a:r>
          </a:p>
          <a:p xmlns:a="http://schemas.openxmlformats.org/drawingml/2006/main">
            <a:r>
              <a:t>Current state: the recruitment and evidence workflow is shipped; the independent 50-user cohort remains the honest external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on the decision: AgentRail is ready for real-user validation and ecosystem exposure.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https://agentrail-stellar.vercel.app</a:t>
            </a:r>
          </a:p>
          <a:p xmlns:a="http://schemas.openxmlformats.org/drawingml/2006/main">
            <a:r>
              <a:t>- https://github.com/emretasss/agentrail-stellar</a:t>
            </a:r>
          </a:p>
          <a:p xmlns:a="http://schemas.openxmlformats.org/drawingml/2006/main">
            <a:r>
              <a:t>- https://stellar.expert/explorer/testnet/contract/CB6QV6VUJH4FRSLZRTOV2HBIIXSZ4V2YRTCE3S5U4KCLZE7QFW4YTLV5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5c79f4ac44b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7f8151d0b94f1e" /><Relationship Type="http://schemas.openxmlformats.org/officeDocument/2006/relationships/slideLayout" Target="/ppt/slideLayouts/slideLayout1.xml" Id="R19af09edda0c42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af09edda0c42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bed924d33434f" /><Relationship Type="http://schemas.openxmlformats.org/officeDocument/2006/relationships/image" Target="/ppt/media/image.jpeg" Id="Rb49801848c0940b6" /><Relationship Type="http://schemas.openxmlformats.org/officeDocument/2006/relationships/notesSlide" Target="/ppt/notesSlides/notesSlide1.xml" Id="Ra6c612a36a684e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bdaab152b4d49" /><Relationship Type="http://schemas.openxmlformats.org/officeDocument/2006/relationships/notesSlide" Target="/ppt/notesSlides/notesSlide2.xml" Id="R8cfe4b6d67c7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cdbbe82464dae" /><Relationship Type="http://schemas.openxmlformats.org/officeDocument/2006/relationships/notesSlide" Target="/ppt/notesSlides/notesSlide3.xml" Id="Rb58ac97b107746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79514a8eb404a" /><Relationship Type="http://schemas.openxmlformats.org/officeDocument/2006/relationships/image" Target="/ppt/media/image2.jpeg" Id="R8724d98ef6f64c67" /><Relationship Type="http://schemas.openxmlformats.org/officeDocument/2006/relationships/notesSlide" Target="/ppt/notesSlides/notesSlide4.xml" Id="R904cd456254e48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95ee960484ee8" /><Relationship Type="http://schemas.openxmlformats.org/officeDocument/2006/relationships/image" Target="/ppt/media/image.png" Id="R42b28e7c9a1e4cc2" /><Relationship Type="http://schemas.openxmlformats.org/officeDocument/2006/relationships/notesSlide" Target="/ppt/notesSlides/notesSlide5.xml" Id="Rfa2ff702269f47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9685da5e247f4" /><Relationship Type="http://schemas.openxmlformats.org/officeDocument/2006/relationships/notesSlide" Target="/ppt/notesSlides/notesSlide6.xml" Id="R076383bce34e45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08ffd1b2c4efe" /><Relationship Type="http://schemas.openxmlformats.org/officeDocument/2006/relationships/notesSlide" Target="/ppt/notesSlides/notesSlide7.xml" Id="Rce2546af726141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f57cfe0fd4fba" /><Relationship Type="http://schemas.openxmlformats.org/officeDocument/2006/relationships/notesSlide" Target="/ppt/notesSlides/notesSlide8.xml" Id="Rd76fb313b75f4f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ba17b12da413f" /><Relationship Type="http://schemas.openxmlformats.org/officeDocument/2006/relationships/notesSlide" Target="/ppt/notesSlides/notesSlide9.xml" Id="R42e24bc1f9fe49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6c81a1b334edd" /><Relationship Type="http://schemas.openxmlformats.org/officeDocument/2006/relationships/notesSlide" Target="/ppt/notesSlides/notesSlide10.xml" Id="R2929dbf0e8054f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644EB61-019E-4108-BCB8-8120102B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STELLAR • LEVEL 5 BLUE BELT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A3C9F14-64B9-4AB8-87B8-6CC66266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AgentRail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0DBE70D-3FB7-4542-995B-6477A804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The trust and settlement workspace for paid AI-agent work on Stellar.</a:t>
            </a:r>
          </a:p>
        </p:txBody>
      </p:sp>
      <p:sp>
        <p:nvSpPr>
          <p:cNvPr id="4" name="cover-proof">
            <a:extLst xmlns:a="http://schemas.openxmlformats.org/drawingml/2006/main">
              <a:ext uri="{FF2B5EF4-FFF2-40B4-BE49-F238E27FC236}">
                <a16:creationId xmlns:a16="http://schemas.microsoft.com/office/drawing/2014/main" id="{C887CDE5-791F-4761-A67E-88155706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Live Testnet MVP • Non-custodial escrow • Verifiable reputation</a:t>
            </a:r>
          </a:p>
        </p:txBody>
      </p:sp>
      <p:sp>
        <p:nvSpPr>
          <p:cNvPr id="5" name="cover-image-back">
            <a:extLst xmlns:a="http://schemas.openxmlformats.org/drawingml/2006/main">
              <a:ext uri="{FF2B5EF4-FFF2-40B4-BE49-F238E27FC236}">
                <a16:creationId xmlns:a16="http://schemas.microsoft.com/office/drawing/2014/main" id="{E1CD60BF-6BE7-4CA6-9C77-8BE2845E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"/>
            <a:ext cx="5524500" cy="560070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801848c0940b6"/>
          <a:stretch xmlns:a="http://schemas.openxmlformats.org/drawingml/2006/main"/>
        </p:blipFill>
        <p:spPr>
          <a:xfrm xmlns:a="http://schemas.openxmlformats.org/drawingml/2006/main">
            <a:off x="7755239" y="400050"/>
            <a:ext cx="2587022" cy="5600700"/>
          </a:xfrm>
          <a:prstGeom xmlns:a="http://schemas.openxmlformats.org/drawingml/2006/main" prst="roundRect">
            <a:avLst>
              <a:gd name="adj" fmla="val 2069"/>
            </a:avLst>
          </a:prstGeom>
        </p:spPr>
      </p:pic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D4CE0D8F-315D-4BA7-BD7C-CB9347D4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agentrail-stellar.vercel.app</a:t>
            </a:r>
          </a:p>
        </p:txBody>
      </p:sp>
    </p:spTree>
    <p:extLst>
      <p:ext uri="{BB962C8B-B14F-4D97-AF65-F5344CB8AC3E}">
        <p14:creationId xmlns:p14="http://schemas.microsoft.com/office/powerpoint/2010/main" val="821499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916D462-40C2-44C8-8875-40BE3076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AI agents can do the work. Trust still breaks the transaction.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60A467B7-3040-4894-BD16-87E3EF97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2648C726-8968-4F0E-8EF8-F93C4F67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2863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Buyers need proof before release.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Providers need payment protection before delivery.</a:t>
            </a:r>
          </a:p>
        </p:txBody>
      </p:sp>
      <p:sp>
        <p:nvSpPr>
          <p:cNvPr id="4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2CCE5E8E-BDC1-4A0F-AEAD-A0A9EA5F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528637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SCOPING</a:t>
            </a:r>
          </a:p>
          <a:p xmlns:a="http://schemas.openxmlformats.org/drawingml/2006/main">
            <a:pPr>
              <a:buNone/>
              <a:def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Unstructured requests create disputed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SETTLEMENT</a:t>
            </a:r>
          </a:p>
          <a:p xmlns:a="http://schemas.openxmlformats.org/drawingml/2006/main">
            <a:pPr>
              <a:buNone/>
              <a:def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Pay-first and pay-later models shift risk instead of solving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REPUTATION</a:t>
            </a:r>
          </a:p>
          <a:p xmlns:a="http://schemas.openxmlformats.org/drawingml/2006/main">
            <a:pPr>
              <a:buNone/>
              <a:def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Ratings trapped in one platform are not portable or independently verifiable.</a:t>
            </a:r>
          </a:p>
        </p:txBody>
      </p:sp>
    </p:spTree>
    <p:extLst>
      <p:ext uri="{BB962C8B-B14F-4D97-AF65-F5344CB8AC3E}">
        <p14:creationId xmlns:p14="http://schemas.microsoft.com/office/powerpoint/2010/main" val="16600413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CD3466E-4D71-4985-BA04-78B207C4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AgentRail makes agent work contractable, protected, and provable.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EDF0EFFE-30EF-4FF3-A8CE-A5F0DC64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solution-num-01">
            <a:extLst xmlns:a="http://schemas.openxmlformats.org/drawingml/2006/main">
              <a:ext uri="{FF2B5EF4-FFF2-40B4-BE49-F238E27FC236}">
                <a16:creationId xmlns:a16="http://schemas.microsoft.com/office/drawing/2014/main" id="{E718DCD2-7826-47E5-A85F-A7BD7DE4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solution-head-01">
            <a:extLst xmlns:a="http://schemas.openxmlformats.org/drawingml/2006/main">
              <a:ext uri="{FF2B5EF4-FFF2-40B4-BE49-F238E27FC236}">
                <a16:creationId xmlns:a16="http://schemas.microsoft.com/office/drawing/2014/main" id="{1064E0D1-0BF5-41F0-9855-94201575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Scope the mission</a:t>
            </a:r>
          </a:p>
        </p:txBody>
      </p:sp>
      <p:sp>
        <p:nvSpPr>
          <p:cNvPr id="5" name="solution-body-01">
            <a:extLst xmlns:a="http://schemas.openxmlformats.org/drawingml/2006/main">
              <a:ext uri="{FF2B5EF4-FFF2-40B4-BE49-F238E27FC236}">
                <a16:creationId xmlns:a16="http://schemas.microsoft.com/office/drawing/2014/main" id="{3A7AADF3-1253-4110-BF75-3799DD06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Mission Copilot turns a rough goal into deliverables, acceptance criteria, risks, budget, and deadline.</a:t>
            </a:r>
          </a:p>
        </p:txBody>
      </p:sp>
      <p:sp>
        <p:nvSpPr>
          <p:cNvPr id="6" name="solution-num-02">
            <a:extLst xmlns:a="http://schemas.openxmlformats.org/drawingml/2006/main">
              <a:ext uri="{FF2B5EF4-FFF2-40B4-BE49-F238E27FC236}">
                <a16:creationId xmlns:a16="http://schemas.microsoft.com/office/drawing/2014/main" id="{3281EF71-2977-4629-A6BD-5A060748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4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solution-head-02">
            <a:extLst xmlns:a="http://schemas.openxmlformats.org/drawingml/2006/main">
              <a:ext uri="{FF2B5EF4-FFF2-40B4-BE49-F238E27FC236}">
                <a16:creationId xmlns:a16="http://schemas.microsoft.com/office/drawing/2014/main" id="{C39F751A-FAC7-42FF-8091-B0A90241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Settle through escrow</a:t>
            </a:r>
          </a:p>
        </p:txBody>
      </p:sp>
      <p:sp>
        <p:nvSpPr>
          <p:cNvPr id="8" name="solution-body-02">
            <a:extLst xmlns:a="http://schemas.openxmlformats.org/drawingml/2006/main">
              <a:ext uri="{FF2B5EF4-FFF2-40B4-BE49-F238E27FC236}">
                <a16:creationId xmlns:a16="http://schemas.microsoft.com/office/drawing/2014/main" id="{04EAE69A-9887-41BB-AF86-16B9AF13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The buyer locks XLM in Soroban. Delivery proof is submitted before the buyer releases payment.</a:t>
            </a:r>
          </a:p>
        </p:txBody>
      </p:sp>
      <p:sp>
        <p:nvSpPr>
          <p:cNvPr id="9" name="solution-num-03">
            <a:extLst xmlns:a="http://schemas.openxmlformats.org/drawingml/2006/main">
              <a:ext uri="{FF2B5EF4-FFF2-40B4-BE49-F238E27FC236}">
                <a16:creationId xmlns:a16="http://schemas.microsoft.com/office/drawing/2014/main" id="{AF7218B9-4A77-4237-9470-B5A05C5B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4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solution-head-03">
            <a:extLst xmlns:a="http://schemas.openxmlformats.org/drawingml/2006/main">
              <a:ext uri="{FF2B5EF4-FFF2-40B4-BE49-F238E27FC236}">
                <a16:creationId xmlns:a16="http://schemas.microsoft.com/office/drawing/2014/main" id="{0A9E92E9-CD9F-4445-983D-58CFD512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Build reputation</a:t>
            </a:r>
          </a:p>
        </p:txBody>
      </p:sp>
      <p:sp>
        <p:nvSpPr>
          <p:cNvPr id="11" name="solution-body-03">
            <a:extLst xmlns:a="http://schemas.openxmlformats.org/drawingml/2006/main">
              <a:ext uri="{FF2B5EF4-FFF2-40B4-BE49-F238E27FC236}">
                <a16:creationId xmlns:a16="http://schemas.microsoft.com/office/drawing/2014/main" id="{2D164D12-3DA7-41CE-9547-03D99302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Settlement records a rating on-chain while private briefs and deliverables stay off-chain as hashes.</a:t>
            </a:r>
          </a:p>
        </p:txBody>
      </p:sp>
    </p:spTree>
    <p:extLst>
      <p:ext uri="{BB962C8B-B14F-4D97-AF65-F5344CB8AC3E}">
        <p14:creationId xmlns:p14="http://schemas.microsoft.com/office/powerpoint/2010/main" val="1304875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8BA04F8-AE85-46BD-B290-650904B3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The opportunity is the trust layer between AI supply and paid demand.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35C3D9B7-6AB8-4359-A888-DC480502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market-copy">
            <a:extLst xmlns:a="http://schemas.openxmlformats.org/drawingml/2006/main">
              <a:ext uri="{FF2B5EF4-FFF2-40B4-BE49-F238E27FC236}">
                <a16:creationId xmlns:a16="http://schemas.microsoft.com/office/drawing/2014/main" id="{2CAE89E8-8676-4631-BFA0-55E26751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INITIAL WEDGE</a:t>
            </a:r>
          </a:p>
          <a:p xmlns:a="http://schemas.openxmlformats.org/drawingml/2006/main">
            <a:pPr>
              <a:buNone/>
              <a:def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Freelance AI services and specialized agent marketplaces.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EXPANSION</a:t>
            </a:r>
          </a:p>
          <a:p xmlns:a="http://schemas.openxmlformats.org/drawingml/2006/main">
            <a:pPr>
              <a:buNone/>
              <a:def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Teams procuring research, monitoring, compliance, data, and API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PLATFORM PATH</a:t>
            </a:r>
          </a:p>
          <a:p xmlns:a="http://schemas.openxmlformats.org/drawingml/2006/main">
            <a:pPr>
              <a:buNone/>
              <a:def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A reusable identity, escrow, evidence, and reputation layer for agent-to-agent commerce.</a:t>
            </a:r>
          </a:p>
        </p:txBody>
      </p:sp>
      <p:sp>
        <p:nvSpPr>
          <p:cNvPr id="4" name="market-image-back">
            <a:extLst xmlns:a="http://schemas.openxmlformats.org/drawingml/2006/main">
              <a:ext uri="{FF2B5EF4-FFF2-40B4-BE49-F238E27FC236}">
                <a16:creationId xmlns:a16="http://schemas.microsoft.com/office/drawing/2014/main" id="{2EC0DB7F-7255-40DA-8295-E32FCF0B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552450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4d98ef6f64c67"/>
          <a:srcRect xmlns:a="http://schemas.openxmlformats.org/drawingml/2006/main" l="8391" t="0" r="8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390650"/>
            <a:ext cx="5524500" cy="4610100"/>
          </a:xfrm>
          <a:prstGeom xmlns:a="http://schemas.openxmlformats.org/drawingml/2006/main" prst="roundRect">
            <a:avLst>
              <a:gd name="adj" fmla="val 2479"/>
            </a:avLst>
          </a:prstGeom>
        </p:spPr>
      </p:pic>
    </p:spTree>
    <p:extLst>
      <p:ext uri="{BB962C8B-B14F-4D97-AF65-F5344CB8AC3E}">
        <p14:creationId xmlns:p14="http://schemas.microsoft.com/office/powerpoint/2010/main" val="846316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B42FD03D-0D36-434D-A164-036EC5B0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Growth Lab turns onboarding into verified evidence.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9E188251-FCA2-4A50-992C-FFA5ED70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product-flow">
            <a:extLst xmlns:a="http://schemas.openxmlformats.org/drawingml/2006/main">
              <a:ext uri="{FF2B5EF4-FFF2-40B4-BE49-F238E27FC236}">
                <a16:creationId xmlns:a16="http://schemas.microsoft.com/office/drawing/2014/main" id="{2272E04D-519D-4D5A-B990-233786DA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1  Choose a role and mission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2  Complete a real Testnet 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3  Verify wallet + hash via Horizon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4  Submit consented feedback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5  Invite the next tester</a:t>
            </a:r>
          </a:p>
        </p:txBody>
      </p:sp>
      <p:sp>
        <p:nvSpPr>
          <p:cNvPr id="4" name="product-image-back">
            <a:extLst xmlns:a="http://schemas.openxmlformats.org/drawingml/2006/main">
              <a:ext uri="{FF2B5EF4-FFF2-40B4-BE49-F238E27FC236}">
                <a16:creationId xmlns:a16="http://schemas.microsoft.com/office/drawing/2014/main" id="{8F6EA67B-A1F7-4877-B4D8-6F91399D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60960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28e7c9a1e4cc2"/>
          <a:srcRect xmlns:a="http://schemas.openxmlformats.org/drawingml/2006/main" l="3724" t="0" r="37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715000" y="1428750"/>
            <a:ext cx="6096000" cy="45720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39927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12A919E-8F74-4D2A-AEB5-3F4DD51E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User-owned signing stays separate from orchestration and chain state.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CEC0B818-644A-4097-B9F2-4C1DCE88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37" name="arch-edge-0"/>
          <p:cNvCxnSpPr/>
          <p:nvPr/>
        </p:nvCxnSpPr>
        <p:spPr>
          <a:xfrm xmlns:a="http://schemas.openxmlformats.org/drawingml/2006/main">
            <a:off x="1390650" y="3486150"/>
            <a:ext cx="1314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8" name="arch-edge-1"/>
          <p:cNvCxnSpPr/>
          <p:nvPr/>
        </p:nvCxnSpPr>
        <p:spPr>
          <a:xfrm xmlns:a="http://schemas.openxmlformats.org/drawingml/2006/main">
            <a:off x="3771900" y="3486150"/>
            <a:ext cx="1314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9" name="arch-edge-2"/>
          <p:cNvCxnSpPr/>
          <p:nvPr/>
        </p:nvCxnSpPr>
        <p:spPr>
          <a:xfrm xmlns:a="http://schemas.openxmlformats.org/drawingml/2006/main">
            <a:off x="6153150" y="3486150"/>
            <a:ext cx="1314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0" name="arch-edge-3"/>
          <p:cNvCxnSpPr/>
          <p:nvPr/>
        </p:nvCxnSpPr>
        <p:spPr>
          <a:xfrm xmlns:a="http://schemas.openxmlformats.org/drawingml/2006/main">
            <a:off x="8534400" y="3486150"/>
            <a:ext cx="1314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arch-node-0">
            <a:extLst xmlns:a="http://schemas.openxmlformats.org/drawingml/2006/main">
              <a:ext uri="{FF2B5EF4-FFF2-40B4-BE49-F238E27FC236}">
                <a16:creationId xmlns:a16="http://schemas.microsoft.com/office/drawing/2014/main" id="{1D4EC8D1-D90D-4A3E-BC17-48CAE38B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0668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head-0">
            <a:extLst xmlns:a="http://schemas.openxmlformats.org/drawingml/2006/main">
              <a:ext uri="{FF2B5EF4-FFF2-40B4-BE49-F238E27FC236}">
                <a16:creationId xmlns:a16="http://schemas.microsoft.com/office/drawing/2014/main" id="{31D71514-376E-43E1-BD8C-F39BF452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Browser</a:t>
            </a:r>
          </a:p>
        </p:txBody>
      </p:sp>
      <p:sp>
        <p:nvSpPr>
          <p:cNvPr id="9" name="arch-body-0">
            <a:extLst xmlns:a="http://schemas.openxmlformats.org/drawingml/2006/main">
              <a:ext uri="{FF2B5EF4-FFF2-40B4-BE49-F238E27FC236}">
                <a16:creationId xmlns:a16="http://schemas.microsoft.com/office/drawing/2014/main" id="{C4A8D034-7562-4819-8091-310029C3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React UI</a:t>
            </a:r>
          </a:p>
          <a:p xmlns:a="http://schemas.openxmlformats.org/drawingml/2006/main">
            <a:pPr algn="ctr">
              <a:buNone/>
              <a:def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Freighter signing</a:t>
            </a:r>
          </a:p>
        </p:txBody>
      </p:sp>
      <p:sp>
        <p:nvSpPr>
          <p:cNvPr id="10" name="arch-node-1">
            <a:extLst xmlns:a="http://schemas.openxmlformats.org/drawingml/2006/main">
              <a:ext uri="{FF2B5EF4-FFF2-40B4-BE49-F238E27FC236}">
                <a16:creationId xmlns:a16="http://schemas.microsoft.com/office/drawing/2014/main" id="{A81A9D6B-4177-41DF-8888-6AC8528D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10668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head-1">
            <a:extLst xmlns:a="http://schemas.openxmlformats.org/drawingml/2006/main">
              <a:ext uri="{FF2B5EF4-FFF2-40B4-BE49-F238E27FC236}">
                <a16:creationId xmlns:a16="http://schemas.microsoft.com/office/drawing/2014/main" id="{410011EB-05EA-47E3-879E-EF99FAF5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146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Vercel</a:t>
            </a:r>
          </a:p>
        </p:txBody>
      </p:sp>
      <p:sp>
        <p:nvSpPr>
          <p:cNvPr id="12" name="arch-body-1">
            <a:extLst xmlns:a="http://schemas.openxmlformats.org/drawingml/2006/main">
              <a:ext uri="{FF2B5EF4-FFF2-40B4-BE49-F238E27FC236}">
                <a16:creationId xmlns:a16="http://schemas.microsoft.com/office/drawing/2014/main" id="{0AFE7C1A-51E4-4ADE-B1E5-1A9CA685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AI + feedback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server functions</a:t>
            </a:r>
          </a:p>
        </p:txBody>
      </p:sp>
      <p:sp>
        <p:nvSpPr>
          <p:cNvPr id="13" name="arch-node-2">
            <a:extLst xmlns:a="http://schemas.openxmlformats.org/drawingml/2006/main">
              <a:ext uri="{FF2B5EF4-FFF2-40B4-BE49-F238E27FC236}">
                <a16:creationId xmlns:a16="http://schemas.microsoft.com/office/drawing/2014/main" id="{41890ADB-D460-4611-9DEF-428E16DF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10668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-head-2">
            <a:extLst xmlns:a="http://schemas.openxmlformats.org/drawingml/2006/main">
              <a:ext uri="{FF2B5EF4-FFF2-40B4-BE49-F238E27FC236}">
                <a16:creationId xmlns:a16="http://schemas.microsoft.com/office/drawing/2014/main" id="{4B5231FD-EE67-4DE7-87CA-6C549AAD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RPC + Horizon</a:t>
            </a:r>
          </a:p>
        </p:txBody>
      </p:sp>
      <p:sp>
        <p:nvSpPr>
          <p:cNvPr id="15" name="arch-body-2">
            <a:extLst xmlns:a="http://schemas.openxmlformats.org/drawingml/2006/main">
              <a:ext uri="{FF2B5EF4-FFF2-40B4-BE49-F238E27FC236}">
                <a16:creationId xmlns:a16="http://schemas.microsoft.com/office/drawing/2014/main" id="{85A57E78-83CE-466E-BCD0-16BC8C88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00500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State + proof</a:t>
            </a:r>
          </a:p>
          <a:p xmlns:a="http://schemas.openxmlformats.org/drawingml/2006/main">
            <a:pPr algn="ctr">
              <a:buNone/>
              <a:def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submit • confirm</a:t>
            </a:r>
          </a:p>
        </p:txBody>
      </p:sp>
      <p:sp>
        <p:nvSpPr>
          <p:cNvPr id="16" name="arch-node-3">
            <a:extLst xmlns:a="http://schemas.openxmlformats.org/drawingml/2006/main">
              <a:ext uri="{FF2B5EF4-FFF2-40B4-BE49-F238E27FC236}">
                <a16:creationId xmlns:a16="http://schemas.microsoft.com/office/drawing/2014/main" id="{55351D69-F7BF-4BFE-9066-A6E4E621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10668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head-3">
            <a:extLst xmlns:a="http://schemas.openxmlformats.org/drawingml/2006/main">
              <a:ext uri="{FF2B5EF4-FFF2-40B4-BE49-F238E27FC236}">
                <a16:creationId xmlns:a16="http://schemas.microsoft.com/office/drawing/2014/main" id="{C4465161-0134-40DB-825D-9DFD2271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146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Soroban</a:t>
            </a:r>
          </a:p>
        </p:txBody>
      </p:sp>
      <p:sp>
        <p:nvSpPr>
          <p:cNvPr id="18" name="arch-body-3">
            <a:extLst xmlns:a="http://schemas.openxmlformats.org/drawingml/2006/main">
              <a:ext uri="{FF2B5EF4-FFF2-40B4-BE49-F238E27FC236}">
                <a16:creationId xmlns:a16="http://schemas.microsoft.com/office/drawing/2014/main" id="{D1AD7568-6ED9-41DE-8292-8A45F031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Escrow</a:t>
            </a:r>
          </a:p>
          <a:p xmlns:a="http://schemas.openxmlformats.org/drawingml/2006/main">
            <a:pPr algn="ctr">
              <a:buNone/>
              <a:def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registry • reputation</a:t>
            </a:r>
          </a:p>
        </p:txBody>
      </p:sp>
      <p:sp>
        <p:nvSpPr>
          <p:cNvPr id="19" name="arch-node-4">
            <a:extLst xmlns:a="http://schemas.openxmlformats.org/drawingml/2006/main">
              <a:ext uri="{FF2B5EF4-FFF2-40B4-BE49-F238E27FC236}">
                <a16:creationId xmlns:a16="http://schemas.microsoft.com/office/drawing/2014/main" id="{DCE05CC8-9498-47D2-838C-8C2C4148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0668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head-4">
            <a:extLst xmlns:a="http://schemas.openxmlformats.org/drawingml/2006/main">
              <a:ext uri="{FF2B5EF4-FFF2-40B4-BE49-F238E27FC236}">
                <a16:creationId xmlns:a16="http://schemas.microsoft.com/office/drawing/2014/main" id="{AD4E8594-A126-4551-B9A8-A756BF48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146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1" name="arch-body-4">
            <a:extLst xmlns:a="http://schemas.openxmlformats.org/drawingml/2006/main">
              <a:ext uri="{FF2B5EF4-FFF2-40B4-BE49-F238E27FC236}">
                <a16:creationId xmlns:a16="http://schemas.microsoft.com/office/drawing/2014/main" id="{476D978B-C922-4398-AE01-AAC2EA3E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Wallets • events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transactions • analytics</a:t>
            </a:r>
          </a:p>
        </p:txBody>
      </p:sp>
      <p:sp>
        <p:nvSpPr>
          <p:cNvPr id="22" name="arch-boundary">
            <a:extLst xmlns:a="http://schemas.openxmlformats.org/drawingml/2006/main">
              <a:ext uri="{FF2B5EF4-FFF2-40B4-BE49-F238E27FC236}">
                <a16:creationId xmlns:a16="http://schemas.microsoft.com/office/drawing/2014/main" id="{7951B8E7-7C47-4598-B1C0-22A34DB9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Private keys never enter the application. Briefs and deliverables remain off-chain; only hashes and settlement state are public.</a:t>
            </a:r>
          </a:p>
        </p:txBody>
      </p:sp>
    </p:spTree>
    <p:extLst>
      <p:ext uri="{BB962C8B-B14F-4D97-AF65-F5344CB8AC3E}">
        <p14:creationId xmlns:p14="http://schemas.microsoft.com/office/powerpoint/2010/main" val="9825408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D5DC2AF4-2180-4708-A770-20615CB6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v0.4 is a major product iteration; 50-user validation is the next gate.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E849D61F-4EA7-4E3E-85BD-FE1024F5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proof-context">
            <a:extLst xmlns:a="http://schemas.openxmlformats.org/drawingml/2006/main">
              <a:ext uri="{FF2B5EF4-FFF2-40B4-BE49-F238E27FC236}">
                <a16:creationId xmlns:a16="http://schemas.microsoft.com/office/drawing/2014/main" id="{FBF0A41A-ADD5-4392-A954-9E6C4821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Growth Lab adds role missions, Horizon proof checks, referrals, and feedback handoff. The cohort count remains honest until 50 distinct people participate.</a:t>
            </a:r>
          </a:p>
        </p:txBody>
      </p:sp>
      <p:sp>
        <p:nvSpPr>
          <p:cNvPr id="4" name="proof-panel-0">
            <a:extLst xmlns:a="http://schemas.openxmlformats.org/drawingml/2006/main">
              <a:ext uri="{FF2B5EF4-FFF2-40B4-BE49-F238E27FC236}">
                <a16:creationId xmlns:a16="http://schemas.microsoft.com/office/drawing/2014/main" id="{C53AF58E-CED3-4491-9E42-B2394041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of-stat-0">
            <a:extLst xmlns:a="http://schemas.openxmlformats.org/drawingml/2006/main">
              <a:ext uri="{FF2B5EF4-FFF2-40B4-BE49-F238E27FC236}">
                <a16:creationId xmlns:a16="http://schemas.microsoft.com/office/drawing/2014/main" id="{A3B82AA4-B787-4F6E-AC4B-233BF7E7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95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5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6" name="proof-label-0">
            <a:extLst xmlns:a="http://schemas.openxmlformats.org/drawingml/2006/main">
              <a:ext uri="{FF2B5EF4-FFF2-40B4-BE49-F238E27FC236}">
                <a16:creationId xmlns:a16="http://schemas.microsoft.com/office/drawing/2014/main" id="{A5F57033-E32C-488C-BF48-54EC7422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verified Testnet transactions</a:t>
            </a:r>
          </a:p>
        </p:txBody>
      </p:sp>
      <p:sp>
        <p:nvSpPr>
          <p:cNvPr id="7" name="proof-panel-1">
            <a:extLst xmlns:a="http://schemas.openxmlformats.org/drawingml/2006/main">
              <a:ext uri="{FF2B5EF4-FFF2-40B4-BE49-F238E27FC236}">
                <a16:creationId xmlns:a16="http://schemas.microsoft.com/office/drawing/2014/main" id="{4224DE53-52CE-4F99-91CF-229E2C5E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of-stat-1">
            <a:extLst xmlns:a="http://schemas.openxmlformats.org/drawingml/2006/main">
              <a:ext uri="{FF2B5EF4-FFF2-40B4-BE49-F238E27FC236}">
                <a16:creationId xmlns:a16="http://schemas.microsoft.com/office/drawing/2014/main" id="{BB91D28D-4D8D-4E34-A089-C30ECC78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0900"/>
            <a:ext cx="295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58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v0.4</a:t>
            </a:r>
          </a:p>
        </p:txBody>
      </p:sp>
      <p:sp>
        <p:nvSpPr>
          <p:cNvPr id="9" name="proof-label-1">
            <a:extLst xmlns:a="http://schemas.openxmlformats.org/drawingml/2006/main">
              <a:ext uri="{FF2B5EF4-FFF2-40B4-BE49-F238E27FC236}">
                <a16:creationId xmlns:a16="http://schemas.microsoft.com/office/drawing/2014/main" id="{30596B4E-218F-45ED-B123-A49A148E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76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major product iteration</a:t>
            </a:r>
          </a:p>
        </p:txBody>
      </p:sp>
      <p:sp>
        <p:nvSpPr>
          <p:cNvPr id="10" name="proof-panel-2">
            <a:extLst xmlns:a="http://schemas.openxmlformats.org/drawingml/2006/main">
              <a:ext uri="{FF2B5EF4-FFF2-40B4-BE49-F238E27FC236}">
                <a16:creationId xmlns:a16="http://schemas.microsoft.com/office/drawing/2014/main" id="{754C8221-82CE-4193-B1A8-1A2EF839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of-stat-2">
            <a:extLst xmlns:a="http://schemas.openxmlformats.org/drawingml/2006/main">
              <a:ext uri="{FF2B5EF4-FFF2-40B4-BE49-F238E27FC236}">
                <a16:creationId xmlns:a16="http://schemas.microsoft.com/office/drawing/2014/main" id="{66C8507A-5899-4186-BC85-D46FC71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90900"/>
            <a:ext cx="295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58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2" name="proof-label-2">
            <a:extLst xmlns:a="http://schemas.openxmlformats.org/drawingml/2006/main">
              <a:ext uri="{FF2B5EF4-FFF2-40B4-BE49-F238E27FC236}">
                <a16:creationId xmlns:a16="http://schemas.microsoft.com/office/drawing/2014/main" id="{A5405732-2A9F-46E2-8366-0B8F153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76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passing Soroban tests</a:t>
            </a:r>
          </a:p>
        </p:txBody>
      </p:sp>
    </p:spTree>
    <p:extLst>
      <p:ext uri="{BB962C8B-B14F-4D97-AF65-F5344CB8AC3E}">
        <p14:creationId xmlns:p14="http://schemas.microsoft.com/office/powerpoint/2010/main" val="1624222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41110D1-F95E-4341-B7DD-4A93A960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Growth Lab closes a measurable recruit → verify → refer loop.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754DD238-8ECF-4569-B608-669C096F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24" name="growth-line"/>
          <p:cNvCxnSpPr/>
          <p:nvPr/>
        </p:nvCxnSpPr>
        <p:spPr>
          <a:xfrm xmlns:a="http://schemas.openxmlformats.org/drawingml/2006/main">
            <a:off x="571500" y="3352800"/>
            <a:ext cx="10810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1426"/>
            </a:solidFill>
            <a:prstDash val="solid"/>
          </a:ln>
        </p:spPr>
      </p:cxnSp>
      <p:sp>
        <p:nvSpPr>
          <p:cNvPr id="4" name="growth-dot-0">
            <a:extLst xmlns:a="http://schemas.openxmlformats.org/drawingml/2006/main">
              <a:ext uri="{FF2B5EF4-FFF2-40B4-BE49-F238E27FC236}">
                <a16:creationId xmlns:a16="http://schemas.microsoft.com/office/drawing/2014/main" id="{086B87E6-4517-45DC-A6B9-DEC8DB8F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owth-label-0">
            <a:extLst xmlns:a="http://schemas.openxmlformats.org/drawingml/2006/main">
              <a:ext uri="{FF2B5EF4-FFF2-40B4-BE49-F238E27FC236}">
                <a16:creationId xmlns:a16="http://schemas.microsoft.com/office/drawing/2014/main" id="{FE86555F-877C-42EA-935D-3A3A0F02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RECRUIT</a:t>
            </a:r>
          </a:p>
        </p:txBody>
      </p:sp>
      <p:sp>
        <p:nvSpPr>
          <p:cNvPr id="6" name="growth-head-0">
            <a:extLst xmlns:a="http://schemas.openxmlformats.org/drawingml/2006/main">
              <a:ext uri="{FF2B5EF4-FFF2-40B4-BE49-F238E27FC236}">
                <a16:creationId xmlns:a16="http://schemas.microsoft.com/office/drawing/2014/main" id="{3C66FEE3-E90E-4B52-8916-BD3E4F4E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Mission-based invite</a:t>
            </a:r>
          </a:p>
        </p:txBody>
      </p:sp>
      <p:sp>
        <p:nvSpPr>
          <p:cNvPr id="7" name="growth-body-0">
            <a:extLst xmlns:a="http://schemas.openxmlformats.org/drawingml/2006/main">
              <a:ext uri="{FF2B5EF4-FFF2-40B4-BE49-F238E27FC236}">
                <a16:creationId xmlns:a16="http://schemas.microsoft.com/office/drawing/2014/main" id="{0627FEDE-8E45-4533-B46D-CDD280EA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Role-based quest plus a referral-tagged link for every participant.</a:t>
            </a:r>
          </a:p>
        </p:txBody>
      </p:sp>
      <p:sp>
        <p:nvSpPr>
          <p:cNvPr id="8" name="growth-dot-1">
            <a:extLst xmlns:a="http://schemas.openxmlformats.org/drawingml/2006/main">
              <a:ext uri="{FF2B5EF4-FFF2-40B4-BE49-F238E27FC236}">
                <a16:creationId xmlns:a16="http://schemas.microsoft.com/office/drawing/2014/main" id="{9D1BACC8-19C3-43C1-A26B-87B3AF78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owth-label-1">
            <a:extLst xmlns:a="http://schemas.openxmlformats.org/drawingml/2006/main">
              <a:ext uri="{FF2B5EF4-FFF2-40B4-BE49-F238E27FC236}">
                <a16:creationId xmlns:a16="http://schemas.microsoft.com/office/drawing/2014/main" id="{818F8B76-B889-4F83-BF97-C6F86900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ACTIVATE</a:t>
            </a:r>
          </a:p>
        </p:txBody>
      </p:sp>
      <p:sp>
        <p:nvSpPr>
          <p:cNvPr id="10" name="growth-head-1">
            <a:extLst xmlns:a="http://schemas.openxmlformats.org/drawingml/2006/main">
              <a:ext uri="{FF2B5EF4-FFF2-40B4-BE49-F238E27FC236}">
                <a16:creationId xmlns:a16="http://schemas.microsoft.com/office/drawing/2014/main" id="{54170216-46DC-4890-89EC-E13C885A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195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Verified transaction</a:t>
            </a:r>
          </a:p>
        </p:txBody>
      </p:sp>
      <p:sp>
        <p:nvSpPr>
          <p:cNvPr id="11" name="growth-body-1">
            <a:extLst xmlns:a="http://schemas.openxmlformats.org/drawingml/2006/main">
              <a:ext uri="{FF2B5EF4-FFF2-40B4-BE49-F238E27FC236}">
                <a16:creationId xmlns:a16="http://schemas.microsoft.com/office/drawing/2014/main" id="{F72750CA-71A1-4B33-9673-74737691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339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Horizon confirms success, source wallet, contract, function, and ledger.</a:t>
            </a:r>
          </a:p>
        </p:txBody>
      </p:sp>
      <p:sp>
        <p:nvSpPr>
          <p:cNvPr id="12" name="growth-dot-2">
            <a:extLst xmlns:a="http://schemas.openxmlformats.org/drawingml/2006/main">
              <a:ext uri="{FF2B5EF4-FFF2-40B4-BE49-F238E27FC236}">
                <a16:creationId xmlns:a16="http://schemas.microsoft.com/office/drawing/2014/main" id="{3150F782-B977-49FE-AE27-5837B84C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owth-label-2">
            <a:extLst xmlns:a="http://schemas.openxmlformats.org/drawingml/2006/main">
              <a:ext uri="{FF2B5EF4-FFF2-40B4-BE49-F238E27FC236}">
                <a16:creationId xmlns:a16="http://schemas.microsoft.com/office/drawing/2014/main" id="{DB21134D-BBF3-4A65-A34D-092D66AA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RETAIN</a:t>
            </a:r>
          </a:p>
        </p:txBody>
      </p:sp>
      <p:sp>
        <p:nvSpPr>
          <p:cNvPr id="14" name="growth-head-2">
            <a:extLst xmlns:a="http://schemas.openxmlformats.org/drawingml/2006/main">
              <a:ext uri="{FF2B5EF4-FFF2-40B4-BE49-F238E27FC236}">
                <a16:creationId xmlns:a16="http://schemas.microsoft.com/office/drawing/2014/main" id="{F579406E-1DA4-4819-B9F9-D90470AC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95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Feedback + referral</a:t>
            </a:r>
          </a:p>
        </p:txBody>
      </p:sp>
      <p:sp>
        <p:nvSpPr>
          <p:cNvPr id="15" name="growth-body-2">
            <a:extLst xmlns:a="http://schemas.openxmlformats.org/drawingml/2006/main">
              <a:ext uri="{FF2B5EF4-FFF2-40B4-BE49-F238E27FC236}">
                <a16:creationId xmlns:a16="http://schemas.microsoft.com/office/drawing/2014/main" id="{CA5728AB-AC35-49DF-9CCD-2BB142C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Published form, return-visit events, and a prompt to invite the next tester.</a:t>
            </a:r>
          </a:p>
        </p:txBody>
      </p:sp>
    </p:spTree>
    <p:extLst>
      <p:ext uri="{BB962C8B-B14F-4D97-AF65-F5344CB8AC3E}">
        <p14:creationId xmlns:p14="http://schemas.microsoft.com/office/powerpoint/2010/main" val="13684551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709CE936-05B5-40A3-BC3B-CB6AA263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3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The roadmap now starts with Growth Lab adoption.</a:t>
            </a:r>
          </a:p>
        </p:txBody>
      </p:sp>
      <p:sp>
        <p:nvSpPr>
          <p:cNvPr id="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34DD1DE6-5B2E-49B0-82DC-F391A5A5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roadmap-panel-0">
            <a:extLst xmlns:a="http://schemas.openxmlformats.org/drawingml/2006/main">
              <a:ext uri="{FF2B5EF4-FFF2-40B4-BE49-F238E27FC236}">
                <a16:creationId xmlns:a16="http://schemas.microsoft.com/office/drawing/2014/main" id="{C6A01C79-AABD-413B-A871-FC063EC5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3571875" cy="3619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map-head-0">
            <a:extLst xmlns:a="http://schemas.openxmlformats.org/drawingml/2006/main">
              <a:ext uri="{FF2B5EF4-FFF2-40B4-BE49-F238E27FC236}">
                <a16:creationId xmlns:a16="http://schemas.microsoft.com/office/drawing/2014/main" id="{B0E4BB37-BCCC-46EA-8A91-BC23959D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5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C0B3A6D7-86B1-4C64-A0DC-F74609DA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95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Growth Lab + Horizon verifier</a:t>
            </a:r>
          </a:p>
          <a:p xmlns:a="http://schemas.openxmlformats.org/drawingml/2006/main">
            <a:pPr>
              <a:buNone/>
              <a:def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50 real Testnet users</a:t>
            </a:r>
          </a:p>
          <a:p xmlns:a="http://schemas.openxmlformats.org/drawingml/2006/main">
            <a:pPr>
              <a:buNone/>
              <a:def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Feedback-linked iterations</a:t>
            </a:r>
          </a:p>
        </p:txBody>
      </p:sp>
      <p:sp>
        <p:nvSpPr>
          <p:cNvPr id="6" name="roadmap-when-0">
            <a:extLst xmlns:a="http://schemas.openxmlformats.org/drawingml/2006/main">
              <a:ext uri="{FF2B5EF4-FFF2-40B4-BE49-F238E27FC236}">
                <a16:creationId xmlns:a16="http://schemas.microsoft.com/office/drawing/2014/main" id="{1F3DC6AD-E02E-43F5-B3C6-5A8B17DA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7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DE65A0E8-716C-4E34-A043-DE1D8D0C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09700"/>
            <a:ext cx="3571875" cy="3619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map-head-1">
            <a:extLst xmlns:a="http://schemas.openxmlformats.org/drawingml/2006/main">
              <a:ext uri="{FF2B5EF4-FFF2-40B4-BE49-F238E27FC236}">
                <a16:creationId xmlns:a16="http://schemas.microsoft.com/office/drawing/2014/main" id="{0C0FF5F7-3EBA-404E-BC8F-459D1849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9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FDB1FB60-1A3C-41DE-BC25-2DE92139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24150"/>
            <a:ext cx="295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Multi-wallet onboarding</a:t>
            </a:r>
          </a:p>
          <a:p xmlns:a="http://schemas.openxmlformats.org/drawingml/2006/main">
            <a:pPr>
              <a:buNone/>
              <a:def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Indexed contract events</a:t>
            </a:r>
          </a:p>
          <a:p xmlns:a="http://schemas.openxmlformats.org/drawingml/2006/main">
            <a:pPr>
              <a:buNone/>
              <a:def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Stablecoin escrow</a:t>
            </a:r>
          </a:p>
        </p:txBody>
      </p:sp>
      <p:sp>
        <p:nvSpPr>
          <p:cNvPr id="10" name="roadmap-when-1">
            <a:extLst xmlns:a="http://schemas.openxmlformats.org/drawingml/2006/main">
              <a:ext uri="{FF2B5EF4-FFF2-40B4-BE49-F238E27FC236}">
                <a16:creationId xmlns:a16="http://schemas.microsoft.com/office/drawing/2014/main" id="{DC5FB4AD-5FA0-4D13-AE3D-7206786B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581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1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A6571966-7BF5-457C-ABAA-2E0075E5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09700"/>
            <a:ext cx="3571875" cy="3619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map-head-2">
            <a:extLst xmlns:a="http://schemas.openxmlformats.org/drawingml/2006/main">
              <a:ext uri="{FF2B5EF4-FFF2-40B4-BE49-F238E27FC236}">
                <a16:creationId xmlns:a16="http://schemas.microsoft.com/office/drawing/2014/main" id="{1B773B3F-ED66-497D-8C6A-F86D98A2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Expand</a:t>
            </a:r>
          </a:p>
        </p:txBody>
      </p:sp>
      <p:sp>
        <p:nvSpPr>
          <p:cNvPr id="13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5CA6F560-6C40-4002-9C50-1A0D3882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295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x402 / MPP settlement</a:t>
            </a:r>
          </a:p>
          <a:p xmlns:a="http://schemas.openxmlformats.org/drawingml/2006/main">
            <a:pPr>
              <a:buNone/>
              <a:def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Verified agent endpoints</a:t>
            </a:r>
          </a:p>
          <a:p xmlns:a="http://schemas.openxmlformats.org/drawingml/2006/main">
            <a:pPr>
              <a:buNone/>
              <a:def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Security-reviewed Mainnet release</a:t>
            </a:r>
          </a:p>
        </p:txBody>
      </p:sp>
      <p:sp>
        <p:nvSpPr>
          <p:cNvPr id="14" name="roadmap-when-2">
            <a:extLst xmlns:a="http://schemas.openxmlformats.org/drawingml/2006/main">
              <a:ext uri="{FF2B5EF4-FFF2-40B4-BE49-F238E27FC236}">
                <a16:creationId xmlns:a16="http://schemas.microsoft.com/office/drawing/2014/main" id="{6CDCAF40-355E-4E2D-8A61-B296EB37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81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</p:spTree>
    <p:extLst>
      <p:ext uri="{BB962C8B-B14F-4D97-AF65-F5344CB8AC3E}">
        <p14:creationId xmlns:p14="http://schemas.microsoft.com/office/powerpoint/2010/main" val="18278716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3FB1E642-3BAA-4881-9956-EBA7F648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AGENTRAIL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714268F-39B0-44E9-AB92-FB329091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Make agent work</a:t>
            </a:r>
          </a:p>
          <a:p xmlns:a="http://schemas.openxmlformats.org/drawingml/2006/main">
            <a:pPr>
              <a:buNone/>
              <a:defRPr sz="57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71426"/>
                </a:solidFill>
                <a:latin typeface="Helvetica Neue"/>
                <a:ea typeface="Helvetica Neue"/>
                <a:cs typeface="Helvetica Neue"/>
              </a:rPr>
              <a:t>worthy of trust.</a:t>
            </a:r>
          </a:p>
        </p:txBody>
      </p:sp>
      <p:sp>
        <p:nvSpPr>
          <p:cNvPr id="3" name="close-links">
            <a:extLst xmlns:a="http://schemas.openxmlformats.org/drawingml/2006/main">
              <a:ext uri="{FF2B5EF4-FFF2-40B4-BE49-F238E27FC236}">
                <a16:creationId xmlns:a16="http://schemas.microsoft.com/office/drawing/2014/main" id="{FA009053-12C3-4C8B-8779-11107EFF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Live product  agentrail-stellar.vercel.app</a:t>
            </a:r>
          </a:p>
          <a:p xmlns:a="http://schemas.openxmlformats.org/drawingml/2006/main">
            <a:pPr>
              <a:buNone/>
              <a:def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GitHub  github.com/emretasss/agentrail-stellar</a:t>
            </a:r>
          </a:p>
          <a:p xmlns:a="http://schemas.openxmlformats.org/drawingml/2006/main">
            <a:pPr>
              <a:buNone/>
              <a:def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B2433"/>
                </a:solidFill>
                <a:latin typeface="Helvetica Neue"/>
                <a:ea typeface="Helvetica Neue"/>
                <a:cs typeface="Helvetica Neue"/>
              </a:rPr>
              <a:t>Testnet contract  CB6Q…YTLV5</a:t>
            </a:r>
          </a:p>
        </p:txBody>
      </p:sp>
    </p:spTree>
    <p:extLst>
      <p:ext uri="{BB962C8B-B14F-4D97-AF65-F5344CB8AC3E}">
        <p14:creationId xmlns:p14="http://schemas.microsoft.com/office/powerpoint/2010/main" val="1881592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2026-08-15T11:43:13.7600000Z</dcterms:created>
  <dcterms:modified xsi:type="dcterms:W3CDTF">2026-08-15T11:43:13.7600000Z</dcterms:modified>
</coreProperties>
</file>